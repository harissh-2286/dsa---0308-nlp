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8" r:id="rId3"/>
    <p:sldId id="267" r:id="rId4"/>
    <p:sldId id="268" r:id="rId5"/>
    <p:sldId id="259" r:id="rId6"/>
    <p:sldId id="269" r:id="rId7"/>
    <p:sldId id="270" r:id="rId8"/>
    <p:sldId id="271" r:id="rId9"/>
    <p:sldId id="272" r:id="rId10"/>
    <p:sldId id="273" r:id="rId11"/>
    <p:sldId id="274" r:id="rId12"/>
    <p:sldId id="281" r:id="rId13"/>
    <p:sldId id="282" r:id="rId14"/>
    <p:sldId id="275" r:id="rId15"/>
    <p:sldId id="276" r:id="rId16"/>
    <p:sldId id="277" r:id="rId17"/>
    <p:sldId id="278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F2354A-A12C-4E9B-BB12-B8800B2731A6}">
  <a:tblStyle styleId="{ADF2354A-A12C-4E9B-BB12-B8800B2731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290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7021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6645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3481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3620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4084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6172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8078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0890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9067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9088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22441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74884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7797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922338" y="1431338"/>
            <a:ext cx="10431462" cy="225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font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An Explainable Semantic Intelligence Framework for Early Prediction of Industrial Equipment Failures Using Unstructured Maintenance Narratives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658143" y="5709360"/>
            <a:ext cx="9144000" cy="1659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SIMATS </a:t>
            </a:r>
            <a:r>
              <a:rPr lang="en-US" sz="2400" b="1" i="0" u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Engineering, SIMATS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Google Shape;90;p13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1262" y="169862"/>
            <a:ext cx="10037762" cy="103028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CAPSTONE PROJECT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9E8F6D-C754-4822-A25C-1EABE88F977A}"/>
              </a:ext>
            </a:extLst>
          </p:cNvPr>
          <p:cNvSpPr txBox="1"/>
          <p:nvPr/>
        </p:nvSpPr>
        <p:spPr>
          <a:xfrm>
            <a:off x="2160560" y="3747603"/>
            <a:ext cx="7955018" cy="19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DSA-0308 NATURAL LANGUAGE PROCCESSING</a:t>
            </a:r>
          </a:p>
          <a:p>
            <a:pPr algn="ctr">
              <a:lnSpc>
                <a:spcPct val="150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DR. T. Kumaragurubaran</a:t>
            </a:r>
          </a:p>
          <a:p>
            <a:pPr algn="ctr">
              <a:lnSpc>
                <a:spcPct val="150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NIRMAL KASI (192424248)</a:t>
            </a:r>
          </a:p>
          <a:p>
            <a:pPr algn="ctr">
              <a:lnSpc>
                <a:spcPct val="150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HARIHARAN G (1924224156)</a:t>
            </a:r>
          </a:p>
          <a:p>
            <a:pPr algn="ctr">
              <a:lnSpc>
                <a:spcPct val="150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HARISSH M (192424014)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Google Shape;110;p15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9319" y="67510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7E4227-ED30-40B8-B1E7-E04A898CC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699300"/>
            <a:ext cx="10515599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Industrial equipment failures can cause production downtime, repair costs, and safety risks.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Maintenance teams continuously record observations about machines in textual reports.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centrifugal pump P-204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where technicians report vibration, noise, and temperature changes.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NLP to understand these maintenance narratives.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BERT, BiLSTM, and RoBERTa analyze the information and predict possible failure.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provide an early warning before major equipment breakdown.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Google Shape;110;p15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9319" y="67510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B8987-9472-42F7-B745-2D1CA7AEC6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462703"/>
            <a:ext cx="805835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Pump P-204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operates continuously in an industrial production line.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Technicians regularly record observations such as vibration, noise, and overheating.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observations are usually stored as natural-language maintenance reports.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predictive systems mainly focus on structured sensor measurements.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can extract useful information from these textual observations.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this information to identify developing failure patterns.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706159-3C8C-4F88-9AA2-0C57DCE4C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6555" y="1690687"/>
            <a:ext cx="2743200" cy="2045330"/>
          </a:xfrm>
          <a:prstGeom prst="rect">
            <a:avLst/>
          </a:prstGeom>
        </p:spPr>
      </p:pic>
      <p:pic>
        <p:nvPicPr>
          <p:cNvPr id="2054" name="Picture 6" descr="Recent News|Kunming Jiahe Science &amp; Technology Co.,Ltd.|JH PUMPS">
            <a:extLst>
              <a:ext uri="{FF2B5EF4-FFF2-40B4-BE49-F238E27FC236}">
                <a16:creationId xmlns:a16="http://schemas.microsoft.com/office/drawing/2014/main" id="{9DAC9F1D-9DCA-416E-B8AC-B55165777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6555" y="4272225"/>
            <a:ext cx="2743200" cy="154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872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1602-164A-4CDE-A1D5-48822B3F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7A44A-C096-420B-BE1D-2543310F9B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0654A5-F482-489E-921E-6D8DF40C3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617979"/>
              </p:ext>
            </p:extLst>
          </p:nvPr>
        </p:nvGraphicFramePr>
        <p:xfrm>
          <a:off x="689810" y="1825625"/>
          <a:ext cx="10663990" cy="4479402"/>
        </p:xfrm>
        <a:graphic>
          <a:graphicData uri="http://schemas.openxmlformats.org/drawingml/2006/table">
            <a:tbl>
              <a:tblPr/>
              <a:tblGrid>
                <a:gridCol w="2132798">
                  <a:extLst>
                    <a:ext uri="{9D8B030D-6E8A-4147-A177-3AD203B41FA5}">
                      <a16:colId xmlns:a16="http://schemas.microsoft.com/office/drawing/2014/main" val="3789221184"/>
                    </a:ext>
                  </a:extLst>
                </a:gridCol>
                <a:gridCol w="2132798">
                  <a:extLst>
                    <a:ext uri="{9D8B030D-6E8A-4147-A177-3AD203B41FA5}">
                      <a16:colId xmlns:a16="http://schemas.microsoft.com/office/drawing/2014/main" val="541082873"/>
                    </a:ext>
                  </a:extLst>
                </a:gridCol>
                <a:gridCol w="2132798">
                  <a:extLst>
                    <a:ext uri="{9D8B030D-6E8A-4147-A177-3AD203B41FA5}">
                      <a16:colId xmlns:a16="http://schemas.microsoft.com/office/drawing/2014/main" val="2560949130"/>
                    </a:ext>
                  </a:extLst>
                </a:gridCol>
                <a:gridCol w="2132798">
                  <a:extLst>
                    <a:ext uri="{9D8B030D-6E8A-4147-A177-3AD203B41FA5}">
                      <a16:colId xmlns:a16="http://schemas.microsoft.com/office/drawing/2014/main" val="4137062452"/>
                    </a:ext>
                  </a:extLst>
                </a:gridCol>
                <a:gridCol w="2132798">
                  <a:extLst>
                    <a:ext uri="{9D8B030D-6E8A-4147-A177-3AD203B41FA5}">
                      <a16:colId xmlns:a16="http://schemas.microsoft.com/office/drawing/2014/main" val="3458360543"/>
                    </a:ext>
                  </a:extLst>
                </a:gridCol>
              </a:tblGrid>
              <a:tr h="48988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the Journal / Paper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/ Methodology Used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264807"/>
                  </a:ext>
                </a:extLst>
              </a:tr>
              <a:tr h="89332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Analysis of Maintenance Logs for Failure Prediction (2022)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 Language Processing (NLP)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Extracts meaningful information from textual data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extensive preprocessing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4296101"/>
                  </a:ext>
                </a:extLst>
              </a:tr>
              <a:tr h="89332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Equipment Failure Prediction Using Machine Learning (2023)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Algorithm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prediction accuracy and robustness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training datasets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443169"/>
                  </a:ext>
                </a:extLst>
              </a:tr>
              <a:tr h="69160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Industrial Maintenance Analytics (2023)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Neural Network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Captures sequential patterns in maintenance records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expensive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180532"/>
                  </a:ext>
                </a:extLst>
              </a:tr>
              <a:tr h="69160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AI for Predictive Maintenance Systems (2024)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 and XAI Techniques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transparent and interpretable predictions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model complexity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469895"/>
                  </a:ext>
                </a:extLst>
              </a:tr>
              <a:tr h="69160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Intelligence Framework for Industrial Failure Detection (2025)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with Explainable Machine Learning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reliability and supports decision-making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depends on data quality</a:t>
                      </a:r>
                    </a:p>
                  </a:txBody>
                  <a:tcPr marL="86450" marR="86450" marT="43225" marB="432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684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862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sz="4400" b="1" i="0" u="none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F5323-0874-4460-B1FF-35991F3F0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758950"/>
            <a:ext cx="667838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faults and machine conditions from technician reports.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how faults change over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Discover patterns that occur before equipment failure.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the failure risk of </a:t>
            </a: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Pump P-204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an early warning for maintenance teams.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Utilize technician observations as an additional source of maintenance intelligence.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E62E6C-FCB5-41CA-99FE-9DF84FD63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967" y="1449759"/>
            <a:ext cx="3315833" cy="2132404"/>
          </a:xfrm>
          <a:prstGeom prst="rect">
            <a:avLst/>
          </a:prstGeom>
        </p:spPr>
      </p:pic>
      <p:pic>
        <p:nvPicPr>
          <p:cNvPr id="3076" name="Picture 4" descr="4 Types of Pumps Used in the Chemical Processing Industry - Vissers Sales Corp.">
            <a:extLst>
              <a:ext uri="{FF2B5EF4-FFF2-40B4-BE49-F238E27FC236}">
                <a16:creationId xmlns:a16="http://schemas.microsoft.com/office/drawing/2014/main" id="{B6C2855E-11C6-468F-BC9E-5A5D12F2D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586" y="3567362"/>
            <a:ext cx="3456214" cy="2285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06B482-925D-48C2-AF42-A0869B092F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59113"/>
            <a:ext cx="10515599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technician may write </a:t>
            </a: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"slight vibration near the bearing"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a maintenance report.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later report may mention </a:t>
            </a: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"increased vibration and unusual noise."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Another report may mention </a:t>
            </a: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"bearing temperature is rising."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Individually, these observations may not appear serious.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they may indicate a developing bearing failure.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not effectively connect these textual observations. </a:t>
            </a:r>
          </a:p>
        </p:txBody>
      </p:sp>
    </p:spTree>
    <p:extLst>
      <p:ext uri="{BB962C8B-B14F-4D97-AF65-F5344CB8AC3E}">
        <p14:creationId xmlns:p14="http://schemas.microsoft.com/office/powerpoint/2010/main" val="72642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0F3177-6C4F-4A37-8F26-25B13F992C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7834" y="1905709"/>
            <a:ext cx="1059633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and extract information from technician feedback.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analyze the sequence of maintenance events.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predict the failure risk of the machine.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current observations with patterns learned from historical failures.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an early warning when the learned pattern indicates high risk.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converts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technician language into failure intelligence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25318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Methods Used and How It Works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091FD-F339-413C-AB9C-7B5127CBBE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38576"/>
            <a:ext cx="649877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 for Semantic Extraction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"Pump P-204 has increased vibration near the bearing."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 identifies: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Pump P-204 → Equipment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Bearing → Component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vibration → Fault condition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51" name="Picture 7" descr="Présentation des pompes centrifuges : comment fonctionnent-elles ?">
            <a:extLst>
              <a:ext uri="{FF2B5EF4-FFF2-40B4-BE49-F238E27FC236}">
                <a16:creationId xmlns:a16="http://schemas.microsoft.com/office/drawing/2014/main" id="{5772F663-521C-44B8-8708-BD5F819A0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058" y="2082234"/>
            <a:ext cx="4037180" cy="269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130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Methods Used and How It Works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1"/>
          </p:nvPr>
        </p:nvSpPr>
        <p:spPr>
          <a:xfrm>
            <a:off x="1333500" y="2243269"/>
            <a:ext cx="9525000" cy="3560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b="1"/>
              <a:t>BiLSTM for Temporal Analysis</a:t>
            </a:r>
          </a:p>
          <a:p>
            <a:r>
              <a:rPr lang="en-US"/>
              <a:t>The extracted events are arranged chronologically:</a:t>
            </a:r>
          </a:p>
          <a:p>
            <a:r>
              <a:rPr lang="en-US" b="1"/>
              <a:t>Slight vibration → Increased vibration → Noise → High temperature</a:t>
            </a:r>
            <a:endParaRPr lang="en-US"/>
          </a:p>
          <a:p>
            <a:r>
              <a:rPr lang="en-US"/>
              <a:t>BiLSTM processes the sequence in both directions and learns relationships between earlier and later events.</a:t>
            </a:r>
          </a:p>
          <a:p>
            <a:r>
              <a:rPr lang="en-US"/>
              <a:t>This helps identify a progression toward failure.</a:t>
            </a:r>
          </a:p>
          <a:p>
            <a:pPr marL="114300" indent="0" algn="just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9899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Methods Used and How It Works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1"/>
          </p:nvPr>
        </p:nvSpPr>
        <p:spPr>
          <a:xfrm>
            <a:off x="1094014" y="1634820"/>
            <a:ext cx="10259786" cy="472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RoBERTa receives the learned semantic and temporal information.</a:t>
            </a:r>
          </a:p>
          <a:p>
            <a:pPr marL="114300" indent="0" algn="ctr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Fault information + Failure pattern</a:t>
            </a:r>
          </a:p>
          <a:p>
            <a:pPr marL="114300" indent="0" algn="ctr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114300" indent="0" algn="ctr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114300" indent="0" algn="ctr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Failure Probability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114300" indent="0" algn="ctr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Pump P-204 → 87% Failure Risk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0148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Individual Workflow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63CEED3-CE2E-4362-A49F-89E7AB000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286" y="1640399"/>
            <a:ext cx="3494314" cy="44935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 1 </a:t>
            </a:r>
            <a:r>
              <a:rPr lang="en-US" altLang="en-US" sz="2600" b="1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Analysis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Technician Reports</a:t>
            </a:r>
            <a:b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  <a:b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BERT</a:t>
            </a:r>
            <a:b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  <a:b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Fault / Component / Condition Extraction</a:t>
            </a:r>
            <a:endParaRPr kumimoji="0" lang="en-US" alt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Bearing → Vibration → Increasing</a:t>
            </a:r>
            <a:endParaRPr kumimoji="0" lang="en-US" alt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AE8855F-E414-4709-8ADA-440E9F1E3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187" y="1647883"/>
            <a:ext cx="3603625" cy="44935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 2 : Temporal Pattern Analysis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Events</a:t>
            </a:r>
            <a:b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  <a:b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BiLSTM</a:t>
            </a:r>
            <a:b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  <a:b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Failure Sequence Identification</a:t>
            </a:r>
            <a:endParaRPr kumimoji="0" lang="en-US" alt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Vibration → Noise → Temperature Increase</a:t>
            </a:r>
            <a:endParaRPr kumimoji="0" lang="en-US" alt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34E8DFB-4B52-4544-8BB9-5AAB5F730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399" y="1647883"/>
            <a:ext cx="3455988" cy="44935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 3:  Failure Prediction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Failure Patterns</a:t>
            </a:r>
            <a:b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  <a:b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RoBERTa</a:t>
            </a:r>
            <a:b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  <a:b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Failure Risk Prediction</a:t>
            </a:r>
            <a:endParaRPr kumimoji="0" lang="en-US" alt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Pump P-204 → High Failure Risk</a:t>
            </a:r>
            <a:endParaRPr kumimoji="0" lang="en-US" alt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169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Overall Workflow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8A2F0-8EB6-49C3-BABD-330EBAC435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952" b="24762"/>
          <a:stretch/>
        </p:blipFill>
        <p:spPr>
          <a:xfrm>
            <a:off x="952500" y="1758950"/>
            <a:ext cx="10401300" cy="372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841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8848C4-8C7F-4DD0-8D66-7EB96E0C0B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699"/>
          <a:stretch/>
        </p:blipFill>
        <p:spPr>
          <a:xfrm>
            <a:off x="2192085" y="1543050"/>
            <a:ext cx="7807830" cy="470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296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838506-2ED8-4459-BF82-DEC5F6CC6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020538"/>
              </p:ext>
            </p:extLst>
          </p:nvPr>
        </p:nvGraphicFramePr>
        <p:xfrm>
          <a:off x="838200" y="1758950"/>
          <a:ext cx="10515600" cy="4433891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2735527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18627815"/>
                    </a:ext>
                  </a:extLst>
                </a:gridCol>
              </a:tblGrid>
              <a:tr h="633413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Approach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NLP Approach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490804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uses sensor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maintenance narratives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9006342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numerical readings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Understands technician observations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844721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text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text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663891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Individual events may be separated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Events are connected over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471781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Threshold-based warnings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NLP-based failure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30898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use of technician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Utilizes maintenance 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597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741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Improvements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578D6-6971-4ADE-8E9B-FD0E7D6187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773237"/>
            <a:ext cx="81153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important failure information from maintenance reports.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progressive patterns in technician observations.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earlier identification of potential equipment failure.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utilization of unstructured maintenance knowledge.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complement existing sensor-based prediction 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can be measured using </a:t>
            </a: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Precision, Recall, F1-score, ROC-AUC, and early-warning lead time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9" name="Picture 2" descr="Feature Griswold | January 2024 | Paint &amp; Coatings Industry">
            <a:extLst>
              <a:ext uri="{FF2B5EF4-FFF2-40B4-BE49-F238E27FC236}">
                <a16:creationId xmlns:a16="http://schemas.microsoft.com/office/drawing/2014/main" id="{7E755F6A-D6B1-4E3D-9264-587DFD488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0" y="1690687"/>
            <a:ext cx="2757715" cy="2068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Centrifugal Pump Bearing Replacement: Key QA/QC Procedures Explained">
            <a:extLst>
              <a:ext uri="{FF2B5EF4-FFF2-40B4-BE49-F238E27FC236}">
                <a16:creationId xmlns:a16="http://schemas.microsoft.com/office/drawing/2014/main" id="{E979C63E-45DA-4EB1-9E34-F5007BE5B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1720" y="4051452"/>
            <a:ext cx="1661274" cy="2068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873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14176-40AB-4F13-BA50-2FB31B8E9C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758950"/>
            <a:ext cx="7571015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NLP to analyze industrial maintenance narratives.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extracts meaningful information from technician feedback.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identifies failure progression through event sequences.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predicts the failure risk of the equipment.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Pump P-204 example demonstrates how small observations can form a meaningful failure pattern.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support maintenance teams with earlier failure warnings. </a:t>
            </a:r>
          </a:p>
        </p:txBody>
      </p:sp>
    </p:spTree>
    <p:extLst>
      <p:ext uri="{BB962C8B-B14F-4D97-AF65-F5344CB8AC3E}">
        <p14:creationId xmlns:p14="http://schemas.microsoft.com/office/powerpoint/2010/main" val="738631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838200" y="665162"/>
            <a:ext cx="10515600" cy="102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Google Shape;120;p16" descr="C:\Users\ADMIN\AppData\Local\Microsoft\Windows\INetCache\Content.MSO\C29DB0A6.tm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175" y="52387"/>
            <a:ext cx="5313362" cy="544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3D224-7324-4DDA-9023-B22046985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06525" y="2156621"/>
            <a:ext cx="9378949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 technician feedback with real-time sensor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multiple industrial machines.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automatic root-cause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languages used by industrial technicians.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existing maintenance management 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LLMs and RAG for advanced maintenance knowledge retrieval. </a:t>
            </a:r>
          </a:p>
        </p:txBody>
      </p:sp>
    </p:spTree>
    <p:extLst>
      <p:ext uri="{BB962C8B-B14F-4D97-AF65-F5344CB8AC3E}">
        <p14:creationId xmlns:p14="http://schemas.microsoft.com/office/powerpoint/2010/main" val="136052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15897</TotalTime>
  <Words>991</Words>
  <Application>Microsoft Office PowerPoint</Application>
  <PresentationFormat>Widescreen</PresentationFormat>
  <Paragraphs>178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Unicode MS</vt:lpstr>
      <vt:lpstr>Calibri</vt:lpstr>
      <vt:lpstr>Times New Roman</vt:lpstr>
      <vt:lpstr>Office Theme</vt:lpstr>
      <vt:lpstr>An Explainable Semantic Intelligence Framework for Early Prediction of Industrial Equipment Failures Using Unstructured Maintenance Narratives</vt:lpstr>
      <vt:lpstr>Abstract</vt:lpstr>
      <vt:lpstr>Introduction</vt:lpstr>
      <vt:lpstr>Literature Survey</vt:lpstr>
      <vt:lpstr>Objectives </vt:lpstr>
      <vt:lpstr>Problem Statement</vt:lpstr>
      <vt:lpstr>Proposed Solution</vt:lpstr>
      <vt:lpstr>Methods Used and How It Works</vt:lpstr>
      <vt:lpstr>Methods Used and How It Works</vt:lpstr>
      <vt:lpstr>Methods Used and How It Works</vt:lpstr>
      <vt:lpstr>Individual Workflow</vt:lpstr>
      <vt:lpstr>Overall Workflow</vt:lpstr>
      <vt:lpstr>Workflow</vt:lpstr>
      <vt:lpstr>Comparison</vt:lpstr>
      <vt:lpstr>Results and Improvements</vt:lpstr>
      <vt:lpstr>Conclusion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Learning–Based Prediction of Homelessness Risk Using Housing, Income, and Demographic Indicators</dc:title>
  <dc:creator>El Nando</dc:creator>
  <cp:lastModifiedBy>cryo zero</cp:lastModifiedBy>
  <cp:revision>36</cp:revision>
  <dcterms:modified xsi:type="dcterms:W3CDTF">2026-09-01T03:00:51Z</dcterms:modified>
</cp:coreProperties>
</file>